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Impact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Coastal Portugal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2100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3108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Tools &amp; Analytical Framework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840480"/>
            <a:ext cx="7772400" cy="27432"/>
          </a:xfrm>
          <a:prstGeom prst="rect">
            <a:avLst/>
          </a:prstGeom>
          <a:solidFill>
            <a:srgbClr val="334E6E"/>
          </a:solidFill>
          <a:ln w="12700">
            <a:solidFill>
              <a:srgbClr val="334E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977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Data Science Capstone  ·  Celso Simões  · 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Does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objectives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1280160" cy="34747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2527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economic cost of sea level rise on Portugal's coastline between 2025 and 2100 — and which regions are most at risk?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130552"/>
            <a:ext cx="1280160" cy="34747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1305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14884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 km of exposed Atlantic coastline · 13 NUTS3 regions · 20 sea level rise thresholds (0.1 m to 2.0 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3026664"/>
            <a:ext cx="1280160" cy="34747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30266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0449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IPCC AR6 pathways — SSP1-2.6 (+0.40 m), SSP2-4.5 (+0.60 m), SSP5-8.5 (+1.00 m) — plus sensitivity testing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3922776"/>
            <a:ext cx="1280160" cy="34747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922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94106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Region-by-region economic exposure, risk classification, adaptation break-even analysis, and 5 interactive Tableau dashboards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from raw data to interactive dashboards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6" name="Image 0" descr="/sessions/cool-trusting-mayer/mnt/Clean_and_Structuring/fig3_1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0"/>
            <a:ext cx="8686800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primary inputs — all open / publicly available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20574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2057400" cy="38404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234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GLO-30 DEM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737360"/>
            <a:ext cx="18379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Copernicus ESA 30m Digital Elevation Model · 2 tiles covering coastal Portugal · foundation for all flood inundation modelling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1234440"/>
            <a:ext cx="20574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1234440"/>
            <a:ext cx="2057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234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&amp; NUTS3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87168" y="1737360"/>
            <a:ext cx="18379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NUTS3 GDP data + OpenStreetMap infrastructure layer · economic exposure for Pillar 1 (GDP) and Pillar 2 (assets)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1234440"/>
            <a:ext cx="20574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234440"/>
            <a:ext cx="20574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234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IPCC AR6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36008" y="1737360"/>
            <a:ext cx="18379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AR6 median SLR projections for Leixões &amp; Sines · three emission scenarios · 0.06 m offset steps from 0.10 m to 2.00 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1234440"/>
            <a:ext cx="205740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234440"/>
            <a:ext cx="2057400" cy="384048"/>
          </a:xfrm>
          <a:prstGeom prst="rect">
            <a:avLst/>
          </a:prstGeom>
          <a:solidFill>
            <a:srgbClr val="5E4AE3"/>
          </a:solidFill>
          <a:ln w="12700">
            <a:solidFill>
              <a:srgbClr val="5E4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234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 Gauges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84848" y="1737360"/>
            <a:ext cx="183794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PSMSL monthly records: Leixões (1956–2022) and Sines (1977–2022) · used to calibrate OLS trend and validate AR6 projections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Geospatial 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rasterio · BFS connectivity filter · NUTS3 zonal statistics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6" name="Image 0" descr="/sessions/cool-trusting-mayer/mnt/Clean_and_Structuring/fig3_2_geo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0"/>
            <a:ext cx="86868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3977640"/>
            <a:ext cx="28346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04_merge_dem.py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" y="4279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&amp; reprojects GLO-30 tiles to EPSG-3763 (Portugal national grid)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27832" y="3977640"/>
            <a:ext cx="28346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05_flood_exposure.py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319272" y="4279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static bathtub mask at each SLR threshold; BFS filter removes disconnected cells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27064" y="3977640"/>
            <a:ext cx="2834640" cy="86868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18504" y="40233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5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06a_economic_gdp.py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18504" y="4279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Intersects flood mask with NUTS3 boundaries to calculate GDP and flooded area at risk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Compound Flood Frequency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Moftakhari et al. (2017) · implemented in Python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6" name="Image 0" descr="/sessions/cool-trusting-mayer/mnt/Clean_and_Structuring/fig3_3_moftakhar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0"/>
            <a:ext cx="5029200" cy="3474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0" y="160020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25312" y="1618488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road/port section has a baseline flood frequency λ₀ = 5 days/year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0" y="2313432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25312" y="2331720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sea level rises by ΔS metres, frequency grows exponentially: λ(ΔS) = λ₀ · exp(k · ΔS)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0" y="3026664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25312" y="3044952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parameter k = ln(2)/0.10 ≈ 6.93 m⁻¹ — frequency doubles every 10 cm of SLR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0" y="3739896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25312" y="375818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365 days/year the section reaches permanent failure — the ceiling effect amplifies costs nonlinearly under SSP5-8.5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0" y="4572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10e_llt_*.py  ·  12e_consolidate_pillar3.py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Key Scripts &amp; Their Purpose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— just what each script does and why it matters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88720"/>
          <a:ext cx="86868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606040"/>
                <a:gridCol w="5303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Script / Module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5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</a:rPr>
                        <a:t>04 – 06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Engineering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Merge DEM tiles · reproject to national CRS · apply SLR thresholds · calculate GDP and infrastructure at risk per NUTS3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</a:rPr>
                        <a:t>10e – 12e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Pillar 3 Cost Engine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Apply Moftakhari model per road/port section · accumulate closure days · convert to disruption cost using unit costs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</a:rPr>
                        <a:t>Stage 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13b_coastal_risk_clustering.py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Standardise four exposure features · fit k=4 clusters · validate with elbow method and silhouette score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</a:rPr>
                        <a:t>Stage 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13a_sealevel_regression.py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Fit linear trend to tide gauge monthly data · project to 2100 · compare against IPCC AR6 median projections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3557"/>
                          </a:solidFill>
                        </a:rPr>
                        <a:t>Stage 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07_export_tableau.py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Compile all Pillar outputs into Tableau-ready CSVs · 5 dashboard data feeds covering risk, cost, and adaptation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Inference — OLS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 gauge validation · Leixões (1956–2022) and Sines (1977–2022)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6" name="Image 0" descr="/sessions/cool-trusting-mayer/mnt/Clean_and_Structuring/sealevel_regression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0"/>
            <a:ext cx="8686800" cy="3291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480560"/>
            <a:ext cx="2788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+1.96 mm/yr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01752" y="4754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Leixões OLS trend (R² = 0.146)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4480560"/>
            <a:ext cx="2788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46120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+3.11 mm/yr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46120" y="4754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Sines OLS trend (R² = 0.778)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17336" y="4480560"/>
            <a:ext cx="2788920" cy="548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90488" y="4498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+5.06 mm/yr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190488" y="47548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AR6 SSP5-8.5 rate post-2025 (Sines)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K-Means Clustering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classification of 13 NUTS3 coastal regions into risk tiers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6" name="Image 0" descr="/sessions/cool-trusting-mayer/mnt/Clean_and_Structuring/fig3_4_kmea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0"/>
            <a:ext cx="868680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4041648"/>
            <a:ext cx="8686800" cy="713232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087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K-Means? 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432511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13 NUTS3 regions and four exposure dimensions, K-Means provides an objective, data-driven grouping free from arbitrary thresholds. The elbow method selected k = 4; silhouette score = 0.414 confirms meaningful separation. Features were log1p-transformed before standardisation to handle outlier regions (e.g. Lisboa).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Results — Four Risk Tiers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+ silhouette validation · k = 4  ·  SSP5-8.5 / 2100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pic>
        <p:nvPicPr>
          <p:cNvPr id="6" name="Image 0" descr="/sessions/cool-trusting-mayer/mnt/Clean_and_Structuring/coastal_risk_clustering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0"/>
            <a:ext cx="868680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Framework — Three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cost accounting from GDP flow to physical disruption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28346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234440"/>
            <a:ext cx="2834640" cy="475488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2344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Flow at 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" y="1801368"/>
            <a:ext cx="2615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GDP lost proportional to the flooded share of each NUTS3 region. Quantifies economic output suppressed by inundation — the revenue a region cannot generate while under water.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" y="42062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06a_economic_gdp.py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72968" y="1234440"/>
            <a:ext cx="28346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1234440"/>
            <a:ext cx="28346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234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22776" y="12344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Stock at Risk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82696" y="1801368"/>
            <a:ext cx="2615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value of infrastructure (roads, railways, ports, buildings) within the flood zone. Captures the balance-sheet exposure — what would need to be rebuilt after a flood event.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82696" y="42062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06b_infrastructure.py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7336" y="1234440"/>
            <a:ext cx="28346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7336" y="1234440"/>
            <a:ext cx="283464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08776" y="12344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67144" y="12344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Cost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7064" y="1801368"/>
            <a:ext cx="261518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of road and port closures modelled via compound flood frequency (Moftakhari). Converts closure-days to €M using section-level unit costs — the day-to-day economic friction.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27064" y="420624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10e_llt_*.py  ·  12e_consolidate.py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— 5 Interactive Dashboards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public.tableau.com/app/profile/celso.simoes  ·  Sea Level Rise Impact Coastal Portugal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80160"/>
            <a:ext cx="411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280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Risk Classification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472184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risk tiers for all 13 NUTS3 regions. Filter by scenario; colour-coded map + scatter of GDP vs flood exposure.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938528"/>
            <a:ext cx="8686800" cy="10973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029968"/>
            <a:ext cx="411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029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0299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SLR Scenario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221992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SSP1-2.6, SSP2-4.5, SSP5-8.5. Shows projected sea level, flooded area, and aggregate cost by year.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688336"/>
            <a:ext cx="8686800" cy="10973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779776"/>
            <a:ext cx="411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7797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7797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Exposure (Pillar 1+2)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2971800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breakdown of GDP flow and asset stock at risk by NUTS3 region and scenario. Highlights Lisboa as dominant outlier.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438144"/>
            <a:ext cx="8686800" cy="10973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529584"/>
            <a:ext cx="411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3529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Cost (Pillar 3)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72160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and port closure days by section, converted to €M disruption cost. Cumulative curve by scenario from 2025 to 2100.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187952"/>
            <a:ext cx="8686800" cy="10973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279392"/>
            <a:ext cx="411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" y="4279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Break-even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" y="4471416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curves for 7 recommended adaptation options (Opt 3). Shows CAPEX threshold and earliest payback year under SSP5-8.5.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methodology revealed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411480" cy="41148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252728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€5.1 billion aggregate disruption cost — SSP5-8.5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1490472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high-emission scenario, cumulative road and port disruption cost across all NUTS3 regions reaches €5.1B by 2100. Under SSP2-4.5 it falls to €0.6B — a 9× difference driven by the threshold effect.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28600" y="2167128"/>
            <a:ext cx="41148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185416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Lisboa dominates — Priority Risk region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2423160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Lisboa's combination of high GDP density and flood exposure places it in the Priority Risk cluster. Its Pillar 1+2 exposure alone accounts for the majority of national aggregate cost.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3099816"/>
            <a:ext cx="41148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" y="3118104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adaptation options reach break-even before 2045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" y="3355848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SSP5-8.5 (Opt 3 level), all seven recommended sections achieve positive net present value by 2045 at a 1.5% discount rate. Mondego and Tagus flood barriers offer the earliest payback.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4032504"/>
            <a:ext cx="411480" cy="411480"/>
          </a:xfrm>
          <a:prstGeom prst="rect">
            <a:avLst/>
          </a:prstGeom>
          <a:solidFill>
            <a:srgbClr val="5E4AE3"/>
          </a:solidFill>
          <a:ln w="12700">
            <a:solidFill>
              <a:srgbClr val="5E4A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0325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4050792"/>
            <a:ext cx="8092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validates AR6 projections within uncertainty bounds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9808" y="4288536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tide gauge trends (Leixões: +1.96 mm/yr; Sines: +3.11 mm/yr) are consistent with AR6 low-scenario trajectories, providing empirical grounding for the modelled SLR pathway assumptions.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011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Robustness Checks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76809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 of model assumptions and boundaries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8686800" cy="228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234440"/>
            <a:ext cx="1417320" cy="3657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bathtub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2527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inundation uses a static DEM mask, not a dynamic hydrological model. It likely overestimates connectivity in some areas and underestimates surge dynamics.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" y="1984248"/>
            <a:ext cx="1417320" cy="3657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842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sensitivity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00253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λ parameter governs cost nonlinearity. Sensitivity analysis shows results are robust to λ ∈ [5, 10] under SSP1/SSP2 but diverge significantly under SSP5-8.5 near the ceiling — a known and disclosed limitation.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734056"/>
            <a:ext cx="1417320" cy="3657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7340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proxy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7523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at risk is estimated by the flooded land share of NUTS3 GDP — a spatial proportionality assumption. It does not model sectoral composition or economic resilience.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3483864"/>
            <a:ext cx="1417320" cy="3657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4838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costs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5021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unit costs are drawn from literature (Portuguese infrastructure benchmarks). They are not project-specific quotes and carry ±30–50% uncertainty.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4233672"/>
            <a:ext cx="1417320" cy="365760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23367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clusters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4251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13 observations, cluster stability is limited. The silhouette score (0.414) indicates meaningful but not strong separation. Results should be interpreted directionally.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Work Demonstrates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457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143000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alone — rasterio, scikit-learn, statsmodels — can produce publication-quality geospatial and economic analysis at national scale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56816"/>
            <a:ext cx="457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65376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ML (K-Means) objectively classifies coastal risk without expert-defined thresholds, producing actionable regional rankings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679192"/>
            <a:ext cx="457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87752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inference (OLS on tide gauges) grounds the model in empirical observation and validates the IPCC projection pathway selected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457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10128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dashboards make the findings accessible to policymakers who need to act — not just academics who need to publish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123944"/>
            <a:ext cx="457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32504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doing nothing is unbearable: under SSP5-8.5, unchecked disruption costs reach €5.1 billion by 2100 — adaptation pays for itself well before mid-century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" y="4892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Level Rise · Coastal Portugal · Celso Simões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SLR Methods &amp; Tools</dc:title>
  <dc:subject>PptxGenJS Presentation</dc:subject>
  <dc:creator>PptxGenJS</dc:creator>
  <cp:lastModifiedBy>PptxGenJS</cp:lastModifiedBy>
  <cp:revision>1</cp:revision>
  <dcterms:created xsi:type="dcterms:W3CDTF">2026-04-23T10:28:06Z</dcterms:created>
  <dcterms:modified xsi:type="dcterms:W3CDTF">2026-04-23T10:28:06Z</dcterms:modified>
</cp:coreProperties>
</file>