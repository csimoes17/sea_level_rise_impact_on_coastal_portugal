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950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da Subida do Nível do Mar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Costa Portuguesa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48716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2100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296265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8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Metodologia, Ferramentas e Principais Resultados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456432"/>
            <a:ext cx="8046720" cy="18288"/>
          </a:xfrm>
          <a:prstGeom prst="rect">
            <a:avLst/>
          </a:prstGeom>
          <a:solidFill>
            <a:srgbClr val="1D5A77"/>
          </a:solidFill>
          <a:ln w="12700">
            <a:solidFill>
              <a:srgbClr val="1D5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5844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Autónoma de Lisboa  · 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9" name="Image 0" descr="/sessions/cool-trusting-mayer/ual_logo_p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Âmbito e Objetivos do Estudo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de investigação e estrutura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70432"/>
            <a:ext cx="1261872" cy="34747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704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27632" y="1188720"/>
            <a:ext cx="7287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custo económico da subida do nível do mar na costa portuguesa entre 2025 e 2100 — e quais as regiões mais em risco?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8600" y="1975104"/>
            <a:ext cx="1261872" cy="34747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97510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7287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~339 km de costa analisada (zona de estudo) · 13 regiões NUTS3 · 20 limiares de SNM (0,1 m a 2,0 m)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" y="2779776"/>
            <a:ext cx="1261872" cy="34747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7797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2798064"/>
            <a:ext cx="7287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trajetórias IPCC AR6 — SSP1-2.6 (+0,40 m), SSP2-4.5 (+0,60 m), SSP5-8.5 (+1,00 m) — mais análise de sensibilidade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28600" y="3584448"/>
            <a:ext cx="1261872" cy="34747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5844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27632" y="3602736"/>
            <a:ext cx="7287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económica por região, classificação de risco, análise de break-even da adaptação e 5 dashboards Tableau interativos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19" name="Image 0" descr="/sessions/cool-trusting-mayer/ual_logo_p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Análise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etapas: dos dados brutos aos dashboards interativos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pic>
        <p:nvPicPr>
          <p:cNvPr id="6" name="Image 0" descr="/sessions/cool-trusting-mayer/mnt/Clean_and_Structuring/fig3_1_pip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97280"/>
            <a:ext cx="8686800" cy="34015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8" name="Image 1" descr="/sessions/cool-trusting-mayer/ual_logo_pa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inputs principais — todos abertos e publicamente disponíveis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70432"/>
            <a:ext cx="2057400" cy="3310128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2057400" cy="3840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GLO-30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" y="1664208"/>
            <a:ext cx="183794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Digital de Terreno Copernicus ESA a 30 m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tiles cobrindo a costa portuguesa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potencial de inundação estático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77440" y="1170432"/>
            <a:ext cx="2057400" cy="3310128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170432"/>
            <a:ext cx="2057400" cy="3840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170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por NUTS3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87168" y="1664208"/>
            <a:ext cx="183794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PIB por NUTS3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dados OpenStreetMap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económica — Pilares 1 e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26280" y="1170432"/>
            <a:ext cx="2057400" cy="3310128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170432"/>
            <a:ext cx="2057400" cy="3840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170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AR6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36008" y="1664208"/>
            <a:ext cx="183794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Projeções medianas AR6 · Leixões e Sines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cenários de emissões (SSP1/2/5)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de 0,06 m entre 0,10 m e 2,00 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75120" y="1170432"/>
            <a:ext cx="2057400" cy="3310128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170432"/>
            <a:ext cx="2057400" cy="3840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170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Marégrafos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84848" y="1664208"/>
            <a:ext cx="183794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Registos mensais PSMSL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Leixões (1956–2022) · Sines (1977–2022)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das tendências OLS vs. AR6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23" name="Image 0" descr="/sessions/cool-trusting-mayer/ual_logo_p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Processamento Geoespacial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rasterio · filtro BFS de conectividade · estatísticas zonais NUTS3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pic>
        <p:nvPicPr>
          <p:cNvPr id="6" name="Image 0" descr="/sessions/cool-trusting-mayer/mnt/Clean_and_Structuring/fig3_2_geo_pip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78992"/>
            <a:ext cx="8686800" cy="2487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3685032"/>
            <a:ext cx="2834640" cy="822960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7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04_merge_dem.py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0040" y="396849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 e reprojeta os tiles GLO-30 para EPSG-3763 (sistema de referência nacional)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27832" y="3685032"/>
            <a:ext cx="2834640" cy="822960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7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05_flood_exposure.py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19272" y="396849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máscara de banheira estática em cada limiar de SNM; filtro BFS remove células não conectadas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27064" y="3685032"/>
            <a:ext cx="2834640" cy="822960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8504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7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06a_economic_gdp.py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18504" y="396849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Interseta a máscara de inundação com as fronteiras NUTS3 para calcular o PIB e a área em risco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17" name="Image 1" descr="/sessions/cool-trusting-mayer/ual_logo_pa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Modelo de Frequência de Inundação Composta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Moftakhari et al. (2017) · implementado em Python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pic>
        <p:nvPicPr>
          <p:cNvPr id="6" name="Image 0" descr="/sessions/cool-trusting-mayer/mnt/Clean_and_Structuring/fig3_3_moftakhar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78992"/>
            <a:ext cx="502920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11155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0" y="1536192"/>
            <a:ext cx="329184" cy="329184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07024" y="155448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λ₀ representa a taxa base de ocorrência de eventos de inundação por secção (tipicamente 5 dias/ano)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194560"/>
            <a:ext cx="329184" cy="329184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07024" y="2212848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SNM a subir ΔS m, a frequência cresce exponencialmente: λ(ΔS) = λ₀ · exp(k · ΔS)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2852928"/>
            <a:ext cx="329184" cy="329184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07024" y="2871216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de sensibilidade k ≈ 6,93 m⁻¹ — frequência duplica a cada 10 cm de SNM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3511296"/>
            <a:ext cx="329184" cy="329184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07024" y="3529584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365 dias/ano: colapso permanente — efeito teto amplifica o custo de forma não linear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0" y="39867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Mais SNM  ·  mais eventos  ·  mais dias de encerramento  ·  custo exponencial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0" y="42245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Scripts: 10e_llt_*.py  ·  12e_consolidate_pillar3.py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486400" y="440740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baseado em Moftakhari et al. (2017) — </a:t>
            </a:r>
            <a:r>
              <a:rPr lang="en-US" sz="850" i="1" dirty="0" err="1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</a:t>
            </a:r>
            <a:r>
              <a:rPr lang="en-US" sz="850" i="1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i="1" dirty="0" err="1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850" i="1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i="1" dirty="0" err="1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aproximação</a:t>
            </a:r>
            <a:r>
              <a:rPr lang="en-US" sz="850" i="1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850" i="1" dirty="0" err="1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nãi</a:t>
            </a:r>
            <a:r>
              <a:rPr lang="en-US" sz="850" i="1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i="1" dirty="0" err="1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calibrado</a:t>
            </a:r>
            <a:r>
              <a:rPr lang="en-US" sz="850" i="1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Portugal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24" name="Image 1" descr="/sessions/cool-trusting-mayer/ual_logo_pa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Scripts Principais e o Seu Propósito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código — apenas o que cada script faz e por que é relevante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52144"/>
          <a:ext cx="8686800" cy="336499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Etapa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8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Script / Módulo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8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 que faz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8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78A3"/>
                          </a:solidFill>
                        </a:rPr>
                        <a:t>04 – 06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78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Engenharia de Dados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3D"/>
                          </a:solidFill>
                        </a:rPr>
                        <a:t>Funde tiles do MDT · reprojeta para CRS nacional · aplica limiares de SNM · calcula PIB e infraestruturas em risco por NUTS3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78A3"/>
                          </a:solidFill>
                        </a:rPr>
                        <a:t>10e – 12e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78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Motor de Custo — Pilar 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3D"/>
                          </a:solidFill>
                        </a:rPr>
                        <a:t>Aplica o modelo Moftakhari por secção de estrada/porto · acumula dias de encerramento · converte em custo de disrupção com custos unitários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78A3"/>
                          </a:solidFill>
                        </a:rPr>
                        <a:t>Etapa 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78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13b_coastal_risk_clustering.py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3D"/>
                          </a:solidFill>
                        </a:rPr>
                        <a:t>Normaliza quatro variáveis de exposição · ajusta k=4 clusters · valida pelo método elbow e score de silhouette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78A3"/>
                          </a:solidFill>
                        </a:rPr>
                        <a:t>Etapa 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78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13a_sealevel_regression.py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3D"/>
                          </a:solidFill>
                        </a:rPr>
                        <a:t>Ajusta tendência linear aos dados dos marégrafos · projeta até 2100 · compara com as projeções medianas do IPCC AR6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78A3"/>
                          </a:solidFill>
                        </a:rPr>
                        <a:t>Etapa 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78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07_export_tableau.py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D3D"/>
                          </a:solidFill>
                        </a:rPr>
                        <a:t>Compila todos os outputs dos Pilares em CSVs para Tableau · 5 feeds de dados cobrindo risco, custo e adaptação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6" name="Image 0" descr="/sessions/cool-trusting-mayer/ual_logo_p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Estatística — Regressão OLS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históricas (registo completo) — não representam aceleração recente · Leixões (1956–2022) · Sines (1977–2022)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pic>
        <p:nvPicPr>
          <p:cNvPr id="6" name="Image 0" descr="/sessions/cool-trusting-mayer/mnt/Clean_and_Structuring/sealevel_regression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78992"/>
            <a:ext cx="868680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224528"/>
            <a:ext cx="2788920" cy="347472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242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+1,96 mm/ano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09928" y="42428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Leixões — período completo (R²=0,146)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72968" y="4224528"/>
            <a:ext cx="2788920" cy="347472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64408" y="4242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+3,11 mm/ano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54296" y="42428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Sines — período completo (R²=0,778)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17336" y="4224528"/>
            <a:ext cx="2788920" cy="347472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08776" y="4242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+5,06 mm/ano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598664" y="42428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OLS Sines pós-1993 (cf. AR6 SSP5-8.5)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17" name="Image 1" descr="/sessions/cool-trusting-mayer/ual_logo_pa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Clustering K-Means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não supervisionada das 13 regiões NUTS3 costeiras em níveis de risco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pic>
        <p:nvPicPr>
          <p:cNvPr id="6" name="Image 0" descr="/sessions/cool-trusting-mayer/mnt/Clean_and_Structuring/fig3_4_kmea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78992"/>
            <a:ext cx="8686800" cy="2670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3822192"/>
            <a:ext cx="8686800" cy="731520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8679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K-Means?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410565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13 regiões NUTS3 e quatro dimensões de exposição, o K-Means oferece uma classificação objetiva e orientada por dados, sem limiares arbitrários. O método elbow selecionou k = 4; o score de silhouette = 0,414 confirma separação significativa. As variáveis foram transformadas com log1p para gerir regiões com valores extremos (e.g. Lisboa).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11" name="Image 1" descr="/sessions/cool-trusting-mayer/ual_logo_pa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ML — Quatro Níveis de Risco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por elbow e silhouette · k = 4 · variáveis SSP5-8.5 / 2100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pic>
        <p:nvPicPr>
          <p:cNvPr id="6" name="Image 0" descr="/sessions/cool-trusting-mayer/mnt/Clean_and_Structuring/coastal_risk_clustering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78992"/>
            <a:ext cx="8686800" cy="3447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8" name="Image 1" descr="/sessions/cool-trusting-mayer/ual_logo_pa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Enquadramento Económico — Três Pilares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Contabilização abrangente: do fluxo do PIB à disrupção física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70432"/>
            <a:ext cx="2834640" cy="3218688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2834640" cy="457200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696" y="117043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em Risco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" y="1719072"/>
            <a:ext cx="261518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anual potencialmente afetado, proporcional à área NUTS3 inundada.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de exposição económica — não simula perda efetiva.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" y="420624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06a_economic_gdp.py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72968" y="1170432"/>
            <a:ext cx="2834640" cy="3218688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1170432"/>
            <a:ext cx="2834640" cy="457200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1704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41064" y="117043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Ativos em Risco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82696" y="1719072"/>
            <a:ext cx="261518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substituição de infraestruturas (estradas, portos, edifícios) no potencial de inundação estático.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a exposição no balanço patrimonial.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82696" y="420624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06b_infrastructure.py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17336" y="1170432"/>
            <a:ext cx="2834640" cy="3218688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7336" y="1170432"/>
            <a:ext cx="2834640" cy="457200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1704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85432" y="117043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Disrupção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27064" y="1719072"/>
            <a:ext cx="261518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operacional dos encerramentos modelado pela frequência composta (Moftakhari).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dias de encerramento em €M — único pilar com não linearidade explícita.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27064" y="420624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10e_llt_*.py  ·  12e_consolidate.py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25" name="Image 0" descr="/sessions/cool-trusting-mayer/ual_logo_p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— 5 Dashboards Interativos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public.tableau.com/app/profile/celso.simoes  ·  Impacto do SNM na Costa Portuguesa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07008"/>
            <a:ext cx="384048" cy="3840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2376" y="1207008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Risco Costeiro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" y="140817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K-Means para 13 regiões NUTS3 · mapa com código de cores · dispersão PIB vs. exposição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92224"/>
            <a:ext cx="8686800" cy="9144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865376"/>
            <a:ext cx="384048" cy="3840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" y="1865376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dos Cenários de SNM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" y="206654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SSP1 / SSP2 / SSP5 em paralelo · SNM projetado, área inundada e custo agregado por ano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450592"/>
            <a:ext cx="8686800" cy="9144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523744"/>
            <a:ext cx="384048" cy="3840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" y="2523744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Económica (Pilares 1+2)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" y="272491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em risco e stock de ativos por NUTS3 e cenário · Lisboa como outlier dominante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108960"/>
            <a:ext cx="8686800" cy="9144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182112"/>
            <a:ext cx="384048" cy="3840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" y="3182112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Disrupção (Pilar 3)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" y="33832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encerramento por secção → €M · curva cumulativa 2025–2100 por cenário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767328"/>
            <a:ext cx="8686800" cy="9144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840480"/>
            <a:ext cx="384048" cy="3840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" y="3840480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da Adaptação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" y="40416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opções recomendadas (Opt 3) · limiar CAPEX e ano de retorno mais rápido sob SSP5-8.5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31" name="Image 0" descr="/sessions/cool-trusting-mayer/ual_logo_p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Resultados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metodologia revelou — cenário SSP5-8.5 (2025–2100)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70432"/>
            <a:ext cx="3383280" cy="3337560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€130,1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 milhões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798064"/>
            <a:ext cx="2834640" cy="13716"/>
          </a:xfrm>
          <a:prstGeom prst="rect">
            <a:avLst/>
          </a:prstGeom>
          <a:solidFill>
            <a:srgbClr val="2E8DB8"/>
          </a:solidFill>
          <a:ln w="12700">
            <a:solidFill>
              <a:srgbClr val="2E8D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346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cumulativo de disrupção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SSP5-8.5  ·  2025–2100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54787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teto amplifica custos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C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linearmente após +0,6 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4760" y="1170432"/>
            <a:ext cx="5120640" cy="1024128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1170432"/>
            <a:ext cx="402336" cy="102412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170432"/>
            <a:ext cx="402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88536" y="1261872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Lisboa — Risco Prioritário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88536" y="1572768"/>
            <a:ext cx="4535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densidade de PIB + maior exposição NUTS3 = cluster de risco mais elevado. Domina os Pilares 1+2.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4760" y="2304288"/>
            <a:ext cx="5120640" cy="1024128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2304288"/>
            <a:ext cx="402336" cy="102412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2304288"/>
            <a:ext cx="402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88536" y="2395728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opções de adaptação: break-even antes de 2045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88536" y="2706624"/>
            <a:ext cx="4535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opções recomendadas (Opt 3) atingem VPL positivo antes de 2045 a 1,5 % de desconto.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94760" y="3438144"/>
            <a:ext cx="5120640" cy="1024128"/>
          </a:xfrm>
          <a:prstGeom prst="rect">
            <a:avLst/>
          </a:prstGeom>
          <a:solidFill>
            <a:srgbClr val="EEF6FA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3438144"/>
            <a:ext cx="402336" cy="102412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438144"/>
            <a:ext cx="402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88536" y="3529584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valida as trajetórias AR6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288536" y="3840480"/>
            <a:ext cx="4535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Leixões (+1,96 mm/ano) e Sines (+3,11 mm/ano) são consistentes com o cenário baixo AR6 — ancoragem empírica do modelo.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29" name="Image 0" descr="/sessions/cool-trusting-mayer/ual_logo_p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Verificações de Robustez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honesto dos pressupostos e fronteiras do modelo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33272"/>
            <a:ext cx="8686800" cy="18288"/>
          </a:xfrm>
          <a:prstGeom prst="rect">
            <a:avLst/>
          </a:prstGeom>
          <a:solidFill>
            <a:srgbClr val="CCE3EF"/>
          </a:solidFill>
          <a:ln w="12700">
            <a:solidFill>
              <a:srgbClr val="C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70432"/>
            <a:ext cx="1481328" cy="347472"/>
          </a:xfrm>
          <a:prstGeom prst="rect">
            <a:avLst/>
          </a:prstGeom>
          <a:solidFill>
            <a:srgbClr val="EEF6FA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7043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estático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47088" y="1188720"/>
            <a:ext cx="7068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usa potencial de inundação estático (máscara MDT), não um modelo hidrológico dinâmico. Tende a sobrestimar a conectividade e subestimar a dinâmica de maré de tempestade.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847088"/>
            <a:ext cx="1481328" cy="347472"/>
          </a:xfrm>
          <a:prstGeom prst="rect">
            <a:avLst/>
          </a:prstGeom>
          <a:solidFill>
            <a:srgbClr val="EEF6FA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8470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 λ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47088" y="1865376"/>
            <a:ext cx="7068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parâmetro λ governa a não linearidade dos custos. Os resultados mantêm a ordem de grandeza sob SSP1/SSP2, mas divergem significativamente sob SSP5-8.5 perto do teto — limitação conhecida e divulgada.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523744"/>
            <a:ext cx="1481328" cy="347472"/>
          </a:xfrm>
          <a:prstGeom prst="rect">
            <a:avLst/>
          </a:prstGeom>
          <a:solidFill>
            <a:srgbClr val="EEF6FA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5237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do PIB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47088" y="2542032"/>
            <a:ext cx="7068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PIB em risco é estimado pela quota de área inundada do PIB NUTS3 — pressuposto de proporcionalidade espacial. Não modela a composição setorial nem a resiliência económica.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200400"/>
            <a:ext cx="1481328" cy="347472"/>
          </a:xfrm>
          <a:prstGeom prst="rect">
            <a:avLst/>
          </a:prstGeom>
          <a:solidFill>
            <a:srgbClr val="EEF6FA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2004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de adaptação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47088" y="3218688"/>
            <a:ext cx="7068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custos unitários do Pilar 3 provêm da literatura (benchmarks de infraestruturas portuguesas). Não são orçamentos específicos de projeto e têm uma incerteza de ±30–50%.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877056"/>
            <a:ext cx="1481328" cy="347472"/>
          </a:xfrm>
          <a:prstGeom prst="rect">
            <a:avLst/>
          </a:prstGeom>
          <a:solidFill>
            <a:srgbClr val="EEF6FA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87705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clusters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47088" y="3895344"/>
            <a:ext cx="7068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apenas 13 observações, a estabilidade dos clusters é limitada. O score de silhouette (0,414) indica separação significativa mas não forte. Os resultados devem ser interpretados de forma direcional.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22" name="Image 0" descr="/sessions/cool-trusting-mayer/ual_logo_p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464515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Trabalho Demonstra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78992"/>
            <a:ext cx="36576" cy="25603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960120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8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open-source — rasterio, scikit-learn, statsmodels — pode produzir análise geoespacial e económica de qualidade científica à escala nacional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773936"/>
            <a:ext cx="36576" cy="25603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550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8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ML não supervisionado (K-Means) classifica objetivamente o risco costeiro sem limiares definidos por especialistas, produzindo rankings regionais acionáveis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36576" cy="25603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50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8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inferência estatística (OLS nos marégrafos) ancora o modelo na observação empírica e valida a trajetória de projeção IPCC AR6 selecionada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163824"/>
            <a:ext cx="36576" cy="25603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44952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8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dashboards Tableau interativos tornam os resultados acessíveis aos decisores políticos que precisam de agir — não apenas aos académicos que precisam de publicar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58768"/>
            <a:ext cx="36576" cy="256032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8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não agir é insuportável: no SSP5-8.5, o custo cumulativo de disrupção atinge €130,1 mil milhões (2025–2100) — as opções recomendadas (Opt 3) atingem break-even muito antes de meados do século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778A3"/>
          </a:solidFill>
          <a:ln w="12700">
            <a:solidFill>
              <a:srgbClr val="1778A3"/>
            </a:solidFill>
            <a:prstDash val="solid"/>
          </a:ln>
        </p:spPr>
      </p:sp>
      <p:pic>
        <p:nvPicPr>
          <p:cNvPr id="15" name="Image 0" descr="/sessions/cool-trusting-mayer/ual_logo_p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4681728"/>
            <a:ext cx="438912" cy="43891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4754880"/>
            <a:ext cx="14630" cy="246888"/>
          </a:xfrm>
          <a:prstGeom prst="rect">
            <a:avLst/>
          </a:prstGeom>
          <a:solidFill>
            <a:srgbClr val="A8D0E4"/>
          </a:solidFill>
          <a:ln w="12700">
            <a:solidFill>
              <a:srgbClr val="A8D0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" y="470916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Gaspar Vieira Simões  ·  MBA em Data Science — Projecto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03920" y="4709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1750</Words>
  <Application>Microsoft Macintosh PowerPoint</Application>
  <PresentationFormat>Apresentação no Ecrã (16:9)</PresentationFormat>
  <Paragraphs>205</Paragraphs>
  <Slides>15</Slides>
  <Notes>15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SNM Portugal — Metodologia</dc:title>
  <dc:subject>PptxGenJS Presentation</dc:subject>
  <dc:creator>PptxGenJS</dc:creator>
  <cp:lastModifiedBy>Celso Simões</cp:lastModifiedBy>
  <cp:revision>2</cp:revision>
  <dcterms:created xsi:type="dcterms:W3CDTF">2026-04-27T14:34:59Z</dcterms:created>
  <dcterms:modified xsi:type="dcterms:W3CDTF">2026-04-27T14:40:04Z</dcterms:modified>
</cp:coreProperties>
</file>