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3017520"/>
            <a:ext cx="8046720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572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Waters,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Mounting Costs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Impact of Sea Level Rise on Coastal Portugal  ·  2025–2100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Simões  |  MBA Data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Economic Exposure  ·  Pillar 2: Asset Exposure  ·  Pillar 3: Infrastructure Disruption Risk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PORTUGAL.  WHY NOW.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Portugal's coastline is one of Europe's longest.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one of its most exposed.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60320" cy="1828800"/>
          </a:xfrm>
          <a:prstGeom prst="rect">
            <a:avLst/>
          </a:prstGeom>
          <a:solidFill>
            <a:srgbClr val="1A73A7">
              <a:alpha val="18000"/>
            </a:srgbClr>
          </a:solidFill>
          <a:ln w="19050">
            <a:solidFill>
              <a:srgbClr val="1A73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943 km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852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coastline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560320" cy="1828800"/>
          </a:xfrm>
          <a:prstGeom prst="rect">
            <a:avLst/>
          </a:prstGeom>
          <a:solidFill>
            <a:srgbClr val="1A73A7">
              <a:alpha val="18000"/>
            </a:srgbClr>
          </a:solidFill>
          <a:ln w="19050">
            <a:solidFill>
              <a:srgbClr val="1A73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852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NUTS3 regions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2560320" cy="1828800"/>
          </a:xfrm>
          <a:prstGeom prst="rect">
            <a:avLst/>
          </a:prstGeom>
          <a:solidFill>
            <a:srgbClr val="1A73A7">
              <a:alpha val="18000"/>
            </a:srgbClr>
          </a:solidFill>
          <a:ln w="19050">
            <a:solidFill>
              <a:srgbClr val="1A73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2025–2100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72200" y="2852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horizon · 75 years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seas don't just flood land — they disrupt economies, destroy assets,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shut down the infrastructure that keeps Portugal moving.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Three-Pillar Risk Assessment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886968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Risk Framework: Hazard × Exposure × Vulnerability → Risk  (Ara Begum et al., 2022)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42062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52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Exposure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at risk of inundation by SLR threshold — annual economic flow metric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3730752"/>
            <a:ext cx="2523744" cy="749808"/>
          </a:xfrm>
          <a:prstGeom prst="rect">
            <a:avLst/>
          </a:prstGeom>
          <a:solidFill>
            <a:srgbClr val="1A73A7">
              <a:alpha val="10000"/>
            </a:srgbClr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749040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€5.30 bn at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SSP5-8.5 · 2100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72968" y="123444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234440"/>
            <a:ext cx="2743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252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7373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Exposure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82696" y="225856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of buildings and infrastructure within the static flood zone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82696" y="3730752"/>
            <a:ext cx="2523744" cy="74980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3749040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€82.84 bn in assets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SSP5-8.5 · 2100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71616" y="1234440"/>
            <a:ext cx="2743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234440"/>
            <a:ext cx="274320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252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81344" y="17373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 Risk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81344" y="225856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operational disruption cost at 8 critical sections, 2025–2100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1344" y="3730752"/>
            <a:ext cx="2523744" cy="749808"/>
          </a:xfrm>
          <a:prstGeom prst="rect">
            <a:avLst/>
          </a:prstGeom>
          <a:solidFill>
            <a:srgbClr val="E8A838">
              <a:alpha val="1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749040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€130.1 bn cumulative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· SSP5-8.5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 — One Trajectory That Matters Most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987552"/>
          <a:ext cx="5120640" cy="233172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21945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 by 2050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 by 2100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7C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SSP1-2.6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7C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Ambitious mitigation — Paris Agreement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73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SSP2-4.5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73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current policy trajectory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SSP5-8.5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4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High-emissions — upper-bound risk scenario (primary analysis)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3429000"/>
            <a:ext cx="5120640" cy="896112"/>
          </a:xfrm>
          <a:prstGeom prst="rect">
            <a:avLst/>
          </a:prstGeom>
          <a:solidFill>
            <a:srgbClr val="0A2342">
              <a:alpha val="15000"/>
            </a:srgbClr>
          </a:solidFill>
          <a:ln w="19050">
            <a:solidFill>
              <a:srgbClr val="1A73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3493008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Geoid sensitivity: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m correction (Minderhoud &amp; Seeger, 2026) applied as a parallel sensitivity variant. Under SSP5-8.5, this raises the no-adaptation total to €216.9 bn and advances all break-even years by 4–8 years.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4407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IPCC AR6 WG1 Table 9.9 (Fox-Kemper et al., 2021)  ·  PSMSL tide gauges Leixões &amp; Sines  ·  Copernicus GLO-30 DEM</a:t>
            </a:r>
            <a:endParaRPr lang="en-US" sz="1000" dirty="0"/>
          </a:p>
        </p:txBody>
      </p:sp>
      <p:pic>
        <p:nvPicPr>
          <p:cNvPr id="9" name="Image 0" descr="/sessions/cool-trusting-mayer/mnt/Clean_and_Structuring/flood_scenarios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987552"/>
            <a:ext cx="3291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Exposed: GDP and Physical Assets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44568" y="960120"/>
            <a:ext cx="36576" cy="38404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ECONOMIC EXPOSURE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26187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A73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€5.30 bn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92608" y="2231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at risk · SSP5-8.5 · 2100 · annual flow metric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633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8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€1.16 bn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8528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SSP1-2.6 (low-emissions, 2100)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31638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8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€6.35 bn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38528" y="3209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geoid offset (+19.8%)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36941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8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38528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Grande Lisboa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960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ASSET EXPOSURE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6187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€82.84 bn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4709160" y="223113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replacement cost · SSP5-8.5 · 2100 · asset stock metric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A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€82.01 bn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267919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— 99% of total exposure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163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A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99,244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320954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units within the flood zone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A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€95.10 bn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3952" y="373989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geoid offset (+€12.3 bn)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" y="472744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Pillar 1 measures annual GDP flow at risk of disruption; Pillar 2 measures replacement cost of the physical asset stock. Complementary — not additive.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ol-trusting-mayer/mnt/Clean_and_Structuring/fig4_flood_ssp585_2100_techni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SSP5-8.5  ·  2100  ·  Baseline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km² of coastal Portugal within the static inundation zone  ·  GDP at risk: €5.30 billion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Copernicus GLO-30 DEM + IPCC AR6 SLR projections. NUTS3 boundaries overlaid.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CRITICAL INFRASTRUCTURE DISRUPTION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€130.1 bn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94360" y="1956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disruption cost  ·  8 critical sections  ·  2025–2100  ·  no adaptation  ·  SSP5-8.5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56048" y="2423160"/>
            <a:ext cx="36576" cy="2377440"/>
          </a:xfrm>
          <a:prstGeom prst="rect">
            <a:avLst/>
          </a:prstGeom>
          <a:solidFill>
            <a:srgbClr val="1A73A7">
              <a:alpha val="40000"/>
            </a:srgbClr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(3 sections)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82112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€56.7 bn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2852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101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(3 sections)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3310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€55.4 bn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07408" y="3310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(2 sections)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82112" y="3767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€18.0 bn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07408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contributors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8529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Aveiro Ria railway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54112" y="2852928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€30.0 bn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2783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Lisbon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54112" y="3227832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€27.3 bn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60273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Setúbal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54112" y="36027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€17.7 bn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97764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Tagus railway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54112" y="3977640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€13.4 bn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435254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Motorway (Azambuja)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54112" y="4352544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€10.9 bn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Geoid-adjusted variant: €216.9 bn  ·  Uncertainty range: €65 bn (LOW) – €227 bn (HIGH)  ·  Model: Moftakhari et al. (2017)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Not Fragile — It is Nonlinear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914400"/>
            <a:ext cx="8558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flood-frequency compression parameter λ controls how quickly return periods shorten per cm of SLR. Tested across the Moftakhari et al. (2017) empirical range: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481328"/>
          <a:ext cx="8558784" cy="1810512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2468880"/>
                <a:gridCol w="165506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value (m⁻¹)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SSP5-8.5 cumulative cost 2025–2100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λ₁ (low) = ln(2)/0.15  ·  return period halves per 15 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€40 billion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7C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λ₂ (mid, default) = ln(2)/0.10  ·  Moftakhari et al. (2017)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€130.1 billion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3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λ₃ (high) = ln(2)/0.07  ·  return period halves per 7 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4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€500 billion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4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Threshold-dominated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92608" y="3410712"/>
            <a:ext cx="8558784" cy="1417320"/>
          </a:xfrm>
          <a:prstGeom prst="rect">
            <a:avLst/>
          </a:prstGeom>
          <a:solidFill>
            <a:srgbClr val="1A73A7">
              <a:alpha val="8000"/>
            </a:srgbClr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3493008"/>
            <a:ext cx="82661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SSP1-2.6 and SSP2-4.5, sections remain in the pre-threshold regime — closure frequencies do not approach the 365-day ceiling — and cost sensitivity to λ is modest. Under SSP5-8.5, several sections enter the threshold-dominated regime: the ceiling effect amplifies λ sensitivity disproportionately. The wide range (€40 bn → &gt; €500 bn) is a structural feature of the model's design, not an artefact. It confirms that section-specific λ calibration from Portuguese hydrological records is the highest-priority methodological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 Pays — And It Pays Early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pic>
        <p:nvPicPr>
          <p:cNvPr id="5" name="Image 0" descr="/sessions/cool-trusting-mayer/mnt/Clean_and_Structuring/fig5_adaptation_breakev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960120"/>
            <a:ext cx="57607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1024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window: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140817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 → 2043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263640" y="2103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8 sections under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SSP5-8.5 / Baseline scenario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788920"/>
            <a:ext cx="2606040" cy="914400"/>
          </a:xfrm>
          <a:prstGeom prst="rect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852928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Geoid variant advances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break-even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years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3822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Earliest: 2029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Aveiro +Geoid, SSP5-8.5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" y="477316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5.1: Cumulative avoided disruption cost vs. CAPEX — 8 sections × 3 options each, SSP5-8.5 baseline and +Geoid variant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ADAPTATION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arithmetic is clear.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91840" cy="2542032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€307 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Mid-estimate portfolio CAPEX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sections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(range: €219 M – €402 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212848"/>
            <a:ext cx="585216" cy="585216"/>
          </a:xfrm>
          <a:prstGeom prst="ellipse">
            <a:avLst/>
          </a:prstGeom>
          <a:solidFill>
            <a:srgbClr val="1A2D45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931920" cy="2542032"/>
          </a:xfrm>
          <a:prstGeom prst="rect">
            <a:avLst/>
          </a:prstGeom>
          <a:solidFill>
            <a:srgbClr val="E8A838">
              <a:alpha val="15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€130.1 bn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No-adaptation disruption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2025–2100 · SSP5-8.5 baseline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 : 1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5212080" y="41422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avoided disruption cost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€ of adaptation investment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Coast is Equal: Regional Risk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pic>
        <p:nvPicPr>
          <p:cNvPr id="5" name="Image 0" descr="/sessions/cool-trusting-mayer/mnt/Clean_and_Structuring/coastal_risk_clustering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20440" y="932688"/>
            <a:ext cx="5321808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" y="1197864"/>
            <a:ext cx="201168" cy="201168"/>
          </a:xfrm>
          <a:prstGeom prst="ellipse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264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Lisboa alone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€65.3 bn infra · €4.48 bn GDP at risk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2093976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011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3225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Aveiro · Setúbal · Algarve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5877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asset stock, material exposure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" y="2990088"/>
            <a:ext cx="201168" cy="201168"/>
          </a:xfrm>
          <a:prstGeom prst="ellipse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9077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3218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regions incl. Porto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348386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GDP, elevated terrain limits risk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08" y="3886200"/>
            <a:ext cx="201168" cy="201168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8039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4114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de Leiria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37997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coastal barrier, minimal risk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2608" y="477316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· 12 coastal NUTS3 regions · Features: flood extent, GDP at risk, fraction flooded, asset replacement cost · Silhouette: 0.414 · log1p pre-transformed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8558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Further Research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95528"/>
            <a:ext cx="8558784" cy="32004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05840"/>
            <a:ext cx="420624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05840"/>
            <a:ext cx="402336" cy="40233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0698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bathtub inundation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481328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storm surge, tidal dynamics, or hydrodynamic routing. Exposure figures are conservative screening estimates, not damage forecasts. A hydrodynamic model would refine the Pillar 1 boundary.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02336" cy="40233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0698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GDP allocation within NUTS3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481328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distributed evenly within each region. Materially underestimates urban exposure (Grande Lisboa) and overestimates rural exposure. GHSL population grids would improve precision.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" y="2999232"/>
            <a:ext cx="420624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999232"/>
            <a:ext cx="402336" cy="40233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3063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calibrated on US tide gauges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" y="347472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Moftakhari et al. (2017) used US Atlantic coast records. Section-specific λ calibration from Portuguese hydrological data is the highest-priority methodological improvement identified.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999232"/>
            <a:ext cx="420624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99232"/>
            <a:ext cx="402336" cy="40233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operational costs 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18888" y="347472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effects — supply chain propagation, modal shift, welfare losses — are not quantified. €130.1 bn is a conservative lower bound on the full economic cost of inaction.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46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cost of doing nothing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unbearable to our economy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future generations."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23957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242316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€5.30 bn of GDP and €82.84 bn in physical assets lie within the 2100 inundation zone — today, under SSP5-8.5 baseline projections.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299008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action, €130.1 bn in cumulative disruption costs accrue across 8 critical infrastructure sections by 2100 (€216.9 bn with geoid offset).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5295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3557016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€307 M of targeted adaptation investment is indicated as cost-effective at every section. Break-even: 2029–2043. Implied return: 424:1.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224528"/>
            <a:ext cx="7955280" cy="27432"/>
          </a:xfrm>
          <a:prstGeom prst="rect">
            <a:avLst/>
          </a:prstGeom>
          <a:solidFill>
            <a:srgbClr val="1A73A7"/>
          </a:solidFill>
          <a:ln w="12700">
            <a:solidFill>
              <a:srgbClr val="1A73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3159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4736592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Simões  |  MBA Data Science  |  c_elso17@hotmail.com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Rising Waters, Mounting Costs</dc:title>
  <dc:subject>PptxGenJS Presentation</dc:subject>
  <dc:creator>Celso Simões</dc:creator>
  <cp:lastModifiedBy>Celso Simões</cp:lastModifiedBy>
  <cp:revision>1</cp:revision>
  <dcterms:created xsi:type="dcterms:W3CDTF">2026-04-23T09:47:34Z</dcterms:created>
  <dcterms:modified xsi:type="dcterms:W3CDTF">2026-04-23T09:47:34Z</dcterms:modified>
</cp:coreProperties>
</file>